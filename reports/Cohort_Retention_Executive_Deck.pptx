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8BDF8"/>
                </a:solidFill>
              </a:defRPr>
            </a:pPr>
            <a:r>
              <a:t>CUSTOMER COHORT, RETENTION &amp; PROFITABILITY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t>Growth is real. Profit is not keeping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E-commerce retailer · 2020–2023 · 17,415 customers · 25,728 orders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Pham Hong Hieu (Haven) · github.com/Haven-Pham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6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D6AE5"/>
                </a:solidFill>
              </a:defRPr>
            </a:pPr>
            <a:r>
              <a:t>FIVE THINGS MANAGEMENT SHOULD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A1C33"/>
                </a:solidFill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0A1C33"/>
                </a:solidFill>
              </a:defRPr>
            </a:pPr>
            <a:r>
              <a:t>1. 2023 sales +24%, but profit -12%: margin 18.0% → 12.8% in every category.</a:t>
            </a:r>
          </a:p>
          <a:p>
            <a:pPr>
              <a:spcAft>
                <a:spcPts val="600"/>
              </a:spcAft>
              <a:defRPr sz="2000" b="0">
                <a:solidFill>
                  <a:srgbClr val="0A1C33"/>
                </a:solidFill>
              </a:defRPr>
            </a:pPr>
            <a:r>
              <a:t>2. Repeat customers are 31% of customers but 56% of profit ($111 each vs $39).</a:t>
            </a:r>
          </a:p>
          <a:p>
            <a:pPr>
              <a:spcAft>
                <a:spcPts val="600"/>
              </a:spcAft>
              <a:defRPr sz="2000" b="0">
                <a:solidFill>
                  <a:srgbClr val="0A1C33"/>
                </a:solidFill>
              </a:defRPr>
            </a:pPr>
            <a:r>
              <a:t>3. Only ~2% of a cohort buys in any later month; the median gap to a 2nd purchase is 364 days.</a:t>
            </a:r>
          </a:p>
          <a:p>
            <a:pPr>
              <a:spcAft>
                <a:spcPts val="600"/>
              </a:spcAft>
              <a:defRPr sz="2000" b="0">
                <a:solidFill>
                  <a:srgbClr val="0A1C33"/>
                </a:solidFill>
              </a:defRPr>
            </a:pPr>
            <a:r>
              <a:t>4. Discounts above 20% lost $289K over four years.</a:t>
            </a:r>
          </a:p>
          <a:p>
            <a:pPr>
              <a:spcAft>
                <a:spcPts val="600"/>
              </a:spcAft>
              <a:defRPr sz="2000" b="0">
                <a:solidFill>
                  <a:srgbClr val="0A1C33"/>
                </a:solidFill>
              </a:defRPr>
            </a:pPr>
            <a:r>
              <a:t>5. Income does not separate profitable customers; behaviour does.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6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D6AE5"/>
                </a:solidFill>
              </a:defRPr>
            </a:pPr>
            <a:r>
              <a:t>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A1C33"/>
                </a:solidFill>
              </a:defRPr>
            </a:pPr>
            <a:r>
              <a:t>2023: sales up, margin down</a:t>
            </a:r>
          </a:p>
        </p:txBody>
      </p:sp>
      <p:pic>
        <p:nvPicPr>
          <p:cNvPr id="5" name="Picture 4" descr="01_yearly_sales_profit_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223760" cy="34249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173736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26E8C"/>
                </a:solidFill>
              </a:defRPr>
            </a:pPr>
            <a:r>
              <a:t>• Sales $1.77M → $2.19M</a:t>
            </a:r>
          </a:p>
          <a:p>
            <a:pPr>
              <a:spcAft>
                <a:spcPts val="600"/>
              </a:spcAft>
              <a:defRPr sz="1500" b="0">
                <a:solidFill>
                  <a:srgbClr val="526E8C"/>
                </a:solidFill>
              </a:defRPr>
            </a:pPr>
            <a:r>
              <a:t>• Profit $319K → $280K</a:t>
            </a:r>
          </a:p>
          <a:p>
            <a:pPr>
              <a:spcAft>
                <a:spcPts val="600"/>
              </a:spcAft>
              <a:defRPr sz="1500" b="0">
                <a:solidFill>
                  <a:srgbClr val="526E8C"/>
                </a:solidFill>
              </a:defRPr>
            </a:pPr>
            <a:r>
              <a:t>• Margin gap worth ≈ $115K at 2023 volume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6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D6AE5"/>
                </a:solidFill>
              </a:defRPr>
            </a:pPr>
            <a:r>
              <a:t>ROOT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A1C33"/>
                </a:solidFill>
              </a:defRPr>
            </a:pPr>
            <a:r>
              <a:t>Not discounts, not mix: unit economics</a:t>
            </a:r>
          </a:p>
        </p:txBody>
      </p:sp>
      <p:pic>
        <p:nvPicPr>
          <p:cNvPr id="5" name="Picture 4" descr="01b_margin_drop_diagn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223760" cy="26445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173736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26E8C"/>
                </a:solidFill>
              </a:defRPr>
            </a:pPr>
            <a:r>
              <a:t>• Undiscounted margin 33.4% → 28.1%</a:t>
            </a:r>
          </a:p>
          <a:p>
            <a:pPr>
              <a:spcAft>
                <a:spcPts val="600"/>
              </a:spcAft>
              <a:defRPr sz="1500" b="0">
                <a:solidFill>
                  <a:srgbClr val="526E8C"/>
                </a:solidFill>
              </a:defRPr>
            </a:pPr>
            <a:r>
              <a:t>• Every category lost 4–8 pp</a:t>
            </a:r>
          </a:p>
          <a:p>
            <a:pPr>
              <a:spcAft>
                <a:spcPts val="600"/>
              </a:spcAft>
              <a:defRPr sz="1500" b="0">
                <a:solidFill>
                  <a:srgbClr val="526E8C"/>
                </a:solidFill>
              </a:defRPr>
            </a:pPr>
            <a:r>
              <a:t>• Category mix moved &lt; 1 pp</a:t>
            </a:r>
          </a:p>
          <a:p>
            <a:pPr>
              <a:spcAft>
                <a:spcPts val="600"/>
              </a:spcAft>
              <a:defRPr sz="1500" b="0">
                <a:solidFill>
                  <a:srgbClr val="526E8C"/>
                </a:solidFill>
              </a:defRPr>
            </a:pPr>
            <a:r>
              <a:t>• Next step: cost and list-price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6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D6AE5"/>
                </a:solidFill>
              </a:defRPr>
            </a:pPr>
            <a:r>
              <a:t>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A1C33"/>
                </a:solidFill>
              </a:defRPr>
            </a:pPr>
            <a:r>
              <a:t>Most customers never come back</a:t>
            </a:r>
          </a:p>
        </p:txBody>
      </p:sp>
      <p:pic>
        <p:nvPicPr>
          <p:cNvPr id="5" name="Picture 4" descr="03_monthly_retention_heatmap_2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223760" cy="35674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173736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26E8C"/>
                </a:solidFill>
              </a:defRPr>
            </a:pPr>
            <a:r>
              <a:t>• 0.4–2.9% of a 2022 cohort active in any later month</a:t>
            </a:r>
          </a:p>
          <a:p>
            <a:pPr>
              <a:spcAft>
                <a:spcPts val="600"/>
              </a:spcAft>
              <a:defRPr sz="1500" b="0">
                <a:solidFill>
                  <a:srgbClr val="526E8C"/>
                </a:solidFill>
              </a:defRPr>
            </a:pPr>
            <a:r>
              <a:t>• No decay curve: return is rare but steady</a:t>
            </a:r>
          </a:p>
          <a:p>
            <a:pPr>
              <a:spcAft>
                <a:spcPts val="600"/>
              </a:spcAft>
              <a:defRPr sz="1500" b="0">
                <a:solidFill>
                  <a:srgbClr val="526E8C"/>
                </a:solidFill>
              </a:defRPr>
            </a:pPr>
            <a:r>
              <a:t>• Target the second purchase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6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D6AE5"/>
                </a:solidFill>
              </a:defRPr>
            </a:pPr>
            <a:r>
              <a:t>CUSTOMER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A1C33"/>
                </a:solidFill>
              </a:defRPr>
            </a:pPr>
            <a:r>
              <a:t>Repeat buyers carry the profit</a:t>
            </a:r>
          </a:p>
        </p:txBody>
      </p:sp>
      <p:pic>
        <p:nvPicPr>
          <p:cNvPr id="5" name="Picture 4" descr="05_repeat_customer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223760" cy="30144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173736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26E8C"/>
                </a:solidFill>
              </a:defRPr>
            </a:pPr>
            <a:r>
              <a:t>• 31% of customers → 56% of profit</a:t>
            </a:r>
          </a:p>
          <a:p>
            <a:pPr>
              <a:spcAft>
                <a:spcPts val="600"/>
              </a:spcAft>
              <a:defRPr sz="1500" b="0">
                <a:solidFill>
                  <a:srgbClr val="526E8C"/>
                </a:solidFill>
              </a:defRPr>
            </a:pPr>
            <a:r>
              <a:t>• Median 364 days to 2nd purchase</a:t>
            </a:r>
          </a:p>
          <a:p>
            <a:pPr>
              <a:spcAft>
                <a:spcPts val="600"/>
              </a:spcAft>
              <a:defRPr sz="1500" b="0">
                <a:solidFill>
                  <a:srgbClr val="526E8C"/>
                </a:solidFill>
              </a:defRPr>
            </a:pPr>
            <a:r>
              <a:t>• +5% repeat conversion ≈ +$43K profit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6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D6AE5"/>
                </a:solidFill>
              </a:defRPr>
            </a:pPr>
            <a: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A1C33"/>
                </a:solidFill>
              </a:defRPr>
            </a:pPr>
            <a:r>
              <a:t>Deep discounts lose money</a:t>
            </a:r>
          </a:p>
        </p:txBody>
      </p:sp>
      <p:pic>
        <p:nvPicPr>
          <p:cNvPr id="5" name="Picture 4" descr="08_discount_profit_lea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223760" cy="34107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173736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26E8C"/>
                </a:solidFill>
              </a:defRPr>
            </a:pPr>
            <a:r>
              <a:t>• No discount: 31.7% margin</a:t>
            </a:r>
          </a:p>
          <a:p>
            <a:pPr>
              <a:spcAft>
                <a:spcPts val="600"/>
              </a:spcAft>
              <a:defRPr sz="1500" b="0">
                <a:solidFill>
                  <a:srgbClr val="526E8C"/>
                </a:solidFill>
              </a:defRPr>
            </a:pPr>
            <a:r>
              <a:t>• 21–40%: −8.1% · &gt;40%: −27.0%</a:t>
            </a:r>
          </a:p>
          <a:p>
            <a:pPr>
              <a:spcAft>
                <a:spcPts val="600"/>
              </a:spcAft>
              <a:defRPr sz="1500" b="0">
                <a:solidFill>
                  <a:srgbClr val="526E8C"/>
                </a:solidFill>
              </a:defRPr>
            </a:pPr>
            <a:r>
              <a:t>• $289K lost on deep-discount 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6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D6AE5"/>
                </a:solidFill>
              </a:defRPr>
            </a:pPr>
            <a:r>
              <a:t>WHAT TO DO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A1C33"/>
                </a:solidFill>
              </a:defRPr>
            </a:pPr>
            <a: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0A1C33"/>
                </a:solidFill>
              </a:defRPr>
            </a:pPr>
            <a:r>
              <a:t>1. Finance · Procurement: explain the 2023 margin drop with cost and list-price data (≈ $115K/yr).</a:t>
            </a:r>
          </a:p>
          <a:p>
            <a:pPr>
              <a:spcAft>
                <a:spcPts val="600"/>
              </a:spcAft>
              <a:defRPr sz="2000" b="0">
                <a:solidFill>
                  <a:srgbClr val="0A1C33"/>
                </a:solidFill>
              </a:defRPr>
            </a:pPr>
            <a:r>
              <a:t>2. Commercial: cap discounts at 20% with approval above it (up to ≈ $72K/yr).</a:t>
            </a:r>
          </a:p>
          <a:p>
            <a:pPr>
              <a:spcAft>
                <a:spcPts val="600"/>
              </a:spcAft>
              <a:defRPr sz="2000" b="0">
                <a:solidFill>
                  <a:srgbClr val="0A1C33"/>
                </a:solidFill>
              </a:defRPr>
            </a:pPr>
            <a:r>
              <a:t>3. CRM: second-purchase programme timed at months 10–12, plus a tested 60–90-day nudge (≈ +$43K).</a:t>
            </a:r>
          </a:p>
          <a:p>
            <a:pPr>
              <a:spcAft>
                <a:spcPts val="600"/>
              </a:spcAft>
              <a:defRPr sz="2000" b="0">
                <a:solidFill>
                  <a:srgbClr val="0A1C33"/>
                </a:solidFill>
              </a:defRPr>
            </a:pPr>
            <a:r>
              <a:t>4. Sales: account management for Corporate (30% of customers, 57% of profit).</a:t>
            </a:r>
          </a:p>
          <a:p>
            <a:pPr>
              <a:spcAft>
                <a:spcPts val="600"/>
              </a:spcAft>
              <a:defRPr sz="2000" b="0">
                <a:solidFill>
                  <a:srgbClr val="0A1C33"/>
                </a:solidFill>
              </a:defRPr>
            </a:pPr>
            <a:r>
              <a:t>5. Marketing: replace income targeting with RFM and discount-sensitivity segments.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